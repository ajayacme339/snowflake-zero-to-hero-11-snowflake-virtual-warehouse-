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How Virtual Warehouses Work in 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9B5E8"/>
                </a:solidFill>
              </a:defRPr>
            </a:pPr>
            <a:r>
              <a:t>Compute, scaling, caching &amp; cost control — with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Snowflake architecture recap</a:t>
            </a:r>
          </a:p>
          <a:p>
            <a:pPr>
              <a:spcAft>
                <a:spcPts val="800"/>
              </a:spcAft>
              <a:defRPr sz="2000" b="0"/>
            </a:pPr>
            <a:r>
              <a:t>• What is a virtual warehouse?</a:t>
            </a:r>
          </a:p>
          <a:p>
            <a:pPr>
              <a:spcAft>
                <a:spcPts val="800"/>
              </a:spcAft>
              <a:defRPr sz="2000" b="0"/>
            </a:pPr>
            <a:r>
              <a:t>• Sizes &amp; credit consumption</a:t>
            </a:r>
          </a:p>
          <a:p>
            <a:pPr>
              <a:spcAft>
                <a:spcPts val="800"/>
              </a:spcAft>
              <a:defRPr sz="2000" b="0"/>
            </a:pPr>
            <a:r>
              <a:t>• Auto-suspend / auto-resume &amp; billing</a:t>
            </a:r>
          </a:p>
          <a:p>
            <a:pPr>
              <a:spcAft>
                <a:spcPts val="800"/>
              </a:spcAft>
              <a:defRPr sz="2000" b="0"/>
            </a:pPr>
            <a:r>
              <a:t>• Scaling up vs. scaling out (multi-cluster)</a:t>
            </a:r>
          </a:p>
          <a:p>
            <a:pPr>
              <a:spcAft>
                <a:spcPts val="800"/>
              </a:spcAft>
              <a:defRPr sz="2000" b="0"/>
            </a:pPr>
            <a:r>
              <a:t>• Caching layers</a:t>
            </a:r>
          </a:p>
          <a:p>
            <a:pPr>
              <a:spcAft>
                <a:spcPts val="800"/>
              </a:spcAft>
              <a:defRPr sz="2000" b="0"/>
            </a:pPr>
            <a:r>
              <a:t>• Warehouse types</a:t>
            </a:r>
          </a:p>
          <a:p>
            <a:pPr>
              <a:spcAft>
                <a:spcPts val="800"/>
              </a:spcAft>
              <a:defRPr sz="2000" b="0"/>
            </a:pPr>
            <a:r>
              <a:t>• Cost control &amp; monitoring</a:t>
            </a:r>
          </a:p>
          <a:p>
            <a:pPr>
              <a:spcAft>
                <a:spcPts val="800"/>
              </a:spcAft>
              <a:defRPr sz="2000" b="0"/>
            </a:pPr>
            <a:r>
              <a:t>• Live demo +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Snowflake Architecture: 3 Independent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Cloud Services – auth, metadata, optimizer, security, result cache</a:t>
            </a:r>
          </a:p>
          <a:p>
            <a:pPr>
              <a:spcAft>
                <a:spcPts val="800"/>
              </a:spcAft>
              <a:defRPr sz="2000" b="0"/>
            </a:pPr>
            <a:r>
              <a:t>• Compute (Virtual Warehouses) – MPP clusters that execute queries</a:t>
            </a:r>
          </a:p>
          <a:p>
            <a:pPr>
              <a:spcAft>
                <a:spcPts val="800"/>
              </a:spcAft>
              <a:defRPr sz="2000" b="0"/>
            </a:pPr>
            <a:r>
              <a:t>• Storage – compressed, columnar micro-partitions in cloud object storage</a:t>
            </a:r>
          </a:p>
          <a:p>
            <a:pPr>
              <a:spcAft>
                <a:spcPts val="800"/>
              </a:spcAft>
              <a:defRPr sz="2000" b="0"/>
            </a:pPr>
            <a:r>
              <a:t>• Storage and compute are decoupled: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Scale each independently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Many warehouses can read the same data without contention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What is a Virtual Warehouse?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A named cluster of compute resources (CPU, memory, local SSD)</a:t>
            </a:r>
          </a:p>
          <a:p>
            <a:pPr>
              <a:spcAft>
                <a:spcPts val="800"/>
              </a:spcAft>
              <a:defRPr sz="2000" b="0"/>
            </a:pPr>
            <a:r>
              <a:t>• Required to run queries, DML, and data loading (COPY INTO)</a:t>
            </a:r>
          </a:p>
          <a:p>
            <a:pPr>
              <a:spcAft>
                <a:spcPts val="800"/>
              </a:spcAft>
              <a:defRPr sz="2000" b="0"/>
            </a:pPr>
            <a:r>
              <a:t>• Holds no data permanently – data lives in the storage layer</a:t>
            </a:r>
          </a:p>
          <a:p>
            <a:pPr>
              <a:spcAft>
                <a:spcPts val="800"/>
              </a:spcAft>
              <a:defRPr sz="2000" b="0"/>
            </a:pPr>
            <a:r>
              <a:t>• Workload isolation: separate warehouses for ETL, BI, data science</a:t>
            </a:r>
          </a:p>
          <a:p>
            <a:pPr>
              <a:spcAft>
                <a:spcPts val="800"/>
              </a:spcAft>
              <a:defRPr sz="2000" b="0"/>
            </a:pPr>
            <a:r>
              <a:t>• Start, stop, resize at any time – even while running</a:t>
            </a:r>
          </a:p>
          <a:p>
            <a:pPr>
              <a:spcAft>
                <a:spcPts val="800"/>
              </a:spcAft>
              <a:defRPr sz="2000" b="0"/>
            </a:pPr>
            <a:r>
              <a:t>• Billed in Snowflake credits only while running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Warehouse Sizes &amp; Credits (Standard)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Credits / hour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Relative compute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X-Small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X-Large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2X-Large – 6X-Large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32 – 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doubles each step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760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Each size up doubles compute and credit rate. A query that runs 2x faster on the next size costs about the same.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Billing, Auto-Suspend &amp; Auto-Resume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Per-second billing with a 60-second minimum each time the warehouse starts</a:t>
            </a:r>
          </a:p>
          <a:p>
            <a:pPr>
              <a:spcAft>
                <a:spcPts val="800"/>
              </a:spcAft>
              <a:defRPr sz="2000" b="0"/>
            </a:pPr>
            <a:r>
              <a:t>• AUTO_SUSPEND: suspend after N seconds idle → stops credit burn</a:t>
            </a:r>
          </a:p>
          <a:p>
            <a:pPr>
              <a:spcAft>
                <a:spcPts val="800"/>
              </a:spcAft>
              <a:defRPr sz="2000" b="0"/>
            </a:pPr>
            <a:r>
              <a:t>• AUTO_RESUME: starts automatically when a query arrives</a:t>
            </a:r>
          </a:p>
          <a:p>
            <a:pPr>
              <a:spcAft>
                <a:spcPts val="800"/>
              </a:spcAft>
              <a:defRPr sz="2000" b="0"/>
            </a:pPr>
            <a:r>
              <a:t>• Suspending drops the local disk cache – balance cost vs. cache warmth</a:t>
            </a:r>
          </a:p>
          <a:p>
            <a:pPr>
              <a:spcAft>
                <a:spcPts val="800"/>
              </a:spcAft>
              <a:defRPr sz="2000" b="0"/>
            </a:pPr>
            <a:r>
              <a:t>• Typical settings: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BI / ad-hoc: 60–300 sec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ETL batch: suspend right after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CREATE WAREHOUSE demo_wh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WAREHOUSE_SIZE = 'XSMALL'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AUTO_SUSPEND = 60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AUTO_RESUME = TRUE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INITIALLY_SUSPENDED = TRUE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COMMENT = 'Demo warehouse';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WAREHOUSE demo_wh SUSPEND;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WAREHOUSE demo_wh RESUME;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Scale Up vs. Scale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Scale UP (resize) – bigger warehouse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For complex / long-running queries, large joins, spilling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Applies to new queries; running queries finish on old size</a:t>
            </a:r>
          </a:p>
          <a:p>
            <a:pPr>
              <a:spcAft>
                <a:spcPts val="800"/>
              </a:spcAft>
              <a:defRPr sz="2000" b="0"/>
            </a:pPr>
            <a:r>
              <a:t>• Scale OUT (multi-cluster) – more clusters of same size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For high concurrency / many users, avoids queuing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MIN/MAX_CLUSTER_COUNT; Enterprise Edition or higher</a:t>
            </a:r>
          </a:p>
          <a:p>
            <a:pPr>
              <a:spcAft>
                <a:spcPts val="800"/>
              </a:spcAft>
              <a:defRPr sz="2000" b="0"/>
            </a:pPr>
            <a:r>
              <a:t>• Rule of thumb: slow query → scale up; queued queries → scale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-- Scale up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WAREHOUSE demo_wh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SET WAREHOUSE_SIZE = 'LARGE';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-- Scale out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WAREHOUSE demo_wh SET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MIN_CLUSTER_COUNT = 1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MAX_CLUSTER_COUNT = 4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SCALING_POLICY = 'STANDARD';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Multi-Cluster Scaling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Maximized mode: MIN = MAX → all clusters always running</a:t>
            </a:r>
          </a:p>
          <a:p>
            <a:pPr>
              <a:spcAft>
                <a:spcPts val="800"/>
              </a:spcAft>
              <a:defRPr sz="2000" b="0"/>
            </a:pPr>
            <a:r>
              <a:t>• Auto-scale mode: MIN &lt; MAX → clusters added/removed on demand</a:t>
            </a:r>
          </a:p>
          <a:p>
            <a:pPr>
              <a:spcAft>
                <a:spcPts val="800"/>
              </a:spcAft>
              <a:defRPr sz="2000" b="0"/>
            </a:pPr>
            <a:r>
              <a:t>• STANDARD policy – favors performance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Starts extra clusters quickly when queries queue</a:t>
            </a:r>
          </a:p>
          <a:p>
            <a:pPr>
              <a:spcAft>
                <a:spcPts val="800"/>
              </a:spcAft>
              <a:defRPr sz="2000" b="0"/>
            </a:pPr>
            <a:r>
              <a:t>• ECONOMY policy – favors cost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Adds clusters only if load can keep them busy for several minutes</a:t>
            </a:r>
          </a:p>
          <a:p>
            <a:pPr>
              <a:spcAft>
                <a:spcPts val="800"/>
              </a:spcAft>
              <a:defRPr sz="2000" b="0"/>
            </a:pPr>
            <a:r>
              <a:t>• Credits = size rate × number of running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Caching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Result Cache (Cloud Services)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Identical query + unchanged data → instant, no warehouse needed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Results persisted for 24 hours (extended on reuse)</a:t>
            </a:r>
          </a:p>
          <a:p>
            <a:pPr>
              <a:spcAft>
                <a:spcPts val="800"/>
              </a:spcAft>
              <a:defRPr sz="2000" b="0"/>
            </a:pPr>
            <a:r>
              <a:t>• Local Disk / Warehouse Cache (Compute)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Micro-partitions cached on warehouse SSD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Lost when warehouse suspends</a:t>
            </a:r>
          </a:p>
          <a:p>
            <a:pPr>
              <a:spcAft>
                <a:spcPts val="800"/>
              </a:spcAft>
              <a:defRPr sz="2000" b="0"/>
            </a:pPr>
            <a:r>
              <a:t>• Metadata Cache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COUNT(*), MIN/MAX served from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-- Demo: run twice, compare timings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SELECT c_mktsegment, COUNT(*)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FROM snowflake_sample_data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.tpch_sf1.customer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GROUP BY 1;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-- Disable result cache to test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SESSION SET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USE_CACHED_RESULT = FALSE;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Warehouse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Standard – general-purpose SQL &amp; loading</a:t>
            </a:r>
          </a:p>
          <a:p>
            <a:pPr>
              <a:spcAft>
                <a:spcPts val="800"/>
              </a:spcAft>
              <a:defRPr sz="2000" b="0"/>
            </a:pPr>
            <a:r>
              <a:t>• Snowpark-optimized – more memory per node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ML training, large in-memory Python/Java/Scala workloads</a:t>
            </a:r>
          </a:p>
          <a:p>
            <a:pPr>
              <a:spcAft>
                <a:spcPts val="800"/>
              </a:spcAft>
              <a:defRPr sz="2000" b="0"/>
            </a:pPr>
            <a:r>
              <a:t>• Generation 2 (Gen2) standard warehouses – newer hardware &amp; engine improvements</a:t>
            </a:r>
          </a:p>
          <a:p>
            <a:pPr>
              <a:spcAft>
                <a:spcPts val="800"/>
              </a:spcAft>
              <a:defRPr sz="2000" b="0"/>
            </a:pPr>
            <a:r>
              <a:t>• Also: serverless compute for tasks, Snowpipe, etc. (no warehouse to manage)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CREATE WAREHOUSE ml_wh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WAREHOUSE_SIZE = 'MEDIUM'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WAREHOUSE_TYPE =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'SNOWPARK-OPTIMIZED';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Cost Control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Resource Monitors – credit quotas with notify / suspend actions</a:t>
            </a:r>
          </a:p>
          <a:p>
            <a:pPr>
              <a:spcAft>
                <a:spcPts val="800"/>
              </a:spcAft>
              <a:defRPr sz="2000" b="0"/>
            </a:pPr>
            <a:r>
              <a:t>• STATEMENT_TIMEOUT_IN_SECONDS – kill runaway queries</a:t>
            </a:r>
          </a:p>
          <a:p>
            <a:pPr>
              <a:spcAft>
                <a:spcPts val="800"/>
              </a:spcAft>
              <a:defRPr sz="2000" b="0"/>
            </a:pPr>
            <a:r>
              <a:t>• Query Profile – spot spilling, poor pruning, queuing</a:t>
            </a:r>
          </a:p>
          <a:p>
            <a:pPr>
              <a:spcAft>
                <a:spcPts val="800"/>
              </a:spcAft>
              <a:defRPr sz="2000" b="0"/>
            </a:pPr>
            <a:r>
              <a:t>• ACCOUNT_USAGE views: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WAREHOUSE_METERING_HISTORY – credits used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WAREHOUSE_LOAD_HISTORY – running vs. queued</a:t>
            </a:r>
          </a:p>
          <a:p>
            <a:pPr lvl="1">
              <a:spcAft>
                <a:spcPts val="800"/>
              </a:spcAft>
              <a:defRPr sz="1600" b="0"/>
            </a:pPr>
            <a:r>
              <a:t>– QUERY_HISTORY – per-query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CREATE RESOURCE MONITOR demo_rm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WITH CREDIT_QUOTA = 10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TRIGGERS ON 80 PERCENT DO NOTIFY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      ON 100 PERCENT DO SUSPEND;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ALTER WAREHOUSE demo_wh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SET RESOURCE_MONITOR = demo_rm;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SELECT warehouse_name,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  SUM(credits_used) credits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FROM snowflake.account_usage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.warehouse_metering_history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WHERE start_time &gt; DATEADD(day,-7,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 CURRENT_TIMESTAMP())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GROUP BY 1 ORDER BY 2 DESC;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1. Create an X-Small warehouse with auto-suspend 60s</a:t>
            </a:r>
          </a:p>
          <a:p>
            <a:pPr>
              <a:spcAft>
                <a:spcPts val="800"/>
              </a:spcAft>
              <a:defRPr sz="2000" b="0"/>
            </a:pPr>
            <a:r>
              <a:t>• 2. Run a query on SNOWFLAKE_SAMPLE_DATA – note runtime</a:t>
            </a:r>
          </a:p>
          <a:p>
            <a:pPr>
              <a:spcAft>
                <a:spcPts val="800"/>
              </a:spcAft>
              <a:defRPr sz="2000" b="0"/>
            </a:pPr>
            <a:r>
              <a:t>• 3. Re-run → result cache hit (near-instant)</a:t>
            </a:r>
          </a:p>
          <a:p>
            <a:pPr>
              <a:spcAft>
                <a:spcPts val="800"/>
              </a:spcAft>
              <a:defRPr sz="2000" b="0"/>
            </a:pPr>
            <a:r>
              <a:t>• 4. Disable result cache, resize to Large, re-run – compare</a:t>
            </a:r>
          </a:p>
          <a:p>
            <a:pPr>
              <a:spcAft>
                <a:spcPts val="800"/>
              </a:spcAft>
              <a:defRPr sz="2000" b="0"/>
            </a:pPr>
            <a:r>
              <a:t>• 5. Open Query Profile to show execution details</a:t>
            </a:r>
          </a:p>
          <a:p>
            <a:pPr>
              <a:spcAft>
                <a:spcPts val="800"/>
              </a:spcAft>
              <a:defRPr sz="2000" b="0"/>
            </a:pPr>
            <a:r>
              <a:t>• 6. Enable multi-cluster, show settings</a:t>
            </a:r>
          </a:p>
          <a:p>
            <a:pPr>
              <a:spcAft>
                <a:spcPts val="800"/>
              </a:spcAft>
              <a:defRPr sz="2000" b="0"/>
            </a:pPr>
            <a:r>
              <a:t>• 7. Attach a resource monitor</a:t>
            </a:r>
          </a:p>
          <a:p>
            <a:pPr>
              <a:spcAft>
                <a:spcPts val="800"/>
              </a:spcAft>
              <a:defRPr sz="2000" b="0"/>
            </a:pPr>
            <a:r>
              <a:t>• 8. Check credit usage; drop the demo warehouse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94960" cy="5029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D4F0FF"/>
                </a:solidFill>
                <a:latin typeface="Consolas"/>
              </a:defRPr>
            </a:pPr>
            <a:r>
              <a:t>USE WAREHOUSE demo_wh;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SELECT l_returnflag, SUM(l_quantity)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FROM snowflake_sample_data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     .tpch_sf10.lineitem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GROUP BY 1;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SHOW WAREHOUSES LIKE 'DEMO%';</a:t>
            </a:r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4F0FF"/>
                </a:solidFill>
                <a:latin typeface="Consolas"/>
              </a:defRPr>
            </a:pPr>
            <a:r>
              <a:t>DROP WAREHOUSE demo_wh;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Start small, size up only when queries justify it</a:t>
            </a:r>
          </a:p>
          <a:p>
            <a:pPr>
              <a:spcAft>
                <a:spcPts val="800"/>
              </a:spcAft>
              <a:defRPr sz="2000" b="0"/>
            </a:pPr>
            <a:r>
              <a:t>• Separate warehouses per workload for isolation &amp; chargeback</a:t>
            </a:r>
          </a:p>
          <a:p>
            <a:pPr>
              <a:spcAft>
                <a:spcPts val="800"/>
              </a:spcAft>
              <a:defRPr sz="2000" b="0"/>
            </a:pPr>
            <a:r>
              <a:t>• Always enable AUTO_SUSPEND and AUTO_RESUME</a:t>
            </a:r>
          </a:p>
          <a:p>
            <a:pPr>
              <a:spcAft>
                <a:spcPts val="800"/>
              </a:spcAft>
              <a:defRPr sz="2000" b="0"/>
            </a:pPr>
            <a:r>
              <a:t>• Use multi-cluster for concurrency, not for single slow queries</a:t>
            </a:r>
          </a:p>
          <a:p>
            <a:pPr>
              <a:spcAft>
                <a:spcPts val="800"/>
              </a:spcAft>
              <a:defRPr sz="2000" b="0"/>
            </a:pPr>
            <a:r>
              <a:t>• Watch for spilling to disk → candidate for larger size</a:t>
            </a:r>
          </a:p>
          <a:p>
            <a:pPr>
              <a:spcAft>
                <a:spcPts val="800"/>
              </a:spcAft>
              <a:defRPr sz="2000" b="0"/>
            </a:pPr>
            <a:r>
              <a:t>• Set resource monitors and statement timeouts</a:t>
            </a:r>
          </a:p>
          <a:p>
            <a:pPr>
              <a:spcAft>
                <a:spcPts val="800"/>
              </a:spcAft>
              <a:defRPr sz="2000" b="0"/>
            </a:pPr>
            <a:r>
              <a:t>• Review metering history regularly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1168</Words>
  <Application>Microsoft Office PowerPoint</Application>
  <PresentationFormat>Custom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Kumar</cp:lastModifiedBy>
  <cp:revision>2</cp:revision>
  <dcterms:created xsi:type="dcterms:W3CDTF">2013-01-27T09:14:16Z</dcterms:created>
  <dcterms:modified xsi:type="dcterms:W3CDTF">2026-10-11T12:42:11Z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7bc0b7-cfd5-41c5-b396-11260b07bd0e_Enabled">
    <vt:lpwstr>true</vt:lpwstr>
  </property>
  <property fmtid="{D5CDD505-2E9C-101B-9397-08002B2CF9AE}" pid="3" name="MSIP_Label_de7bc0b7-cfd5-41c5-b396-11260b07bd0e_SetDate">
    <vt:lpwstr>2026-10-11T12:42:01Z</vt:lpwstr>
  </property>
  <property fmtid="{D5CDD505-2E9C-101B-9397-08002B2CF9AE}" pid="4" name="MSIP_Label_de7bc0b7-cfd5-41c5-b396-11260b07bd0e_Method">
    <vt:lpwstr>Privileged</vt:lpwstr>
  </property>
  <property fmtid="{D5CDD505-2E9C-101B-9397-08002B2CF9AE}" pid="5" name="MSIP_Label_de7bc0b7-cfd5-41c5-b396-11260b07bd0e_Name">
    <vt:lpwstr>Public Default</vt:lpwstr>
  </property>
  <property fmtid="{D5CDD505-2E9C-101B-9397-08002B2CF9AE}" pid="6" name="MSIP_Label_de7bc0b7-cfd5-41c5-b396-11260b07bd0e_SiteId">
    <vt:lpwstr>f45ccc07-e57e-4d15-bf6f-f6cbccd2d395</vt:lpwstr>
  </property>
  <property fmtid="{D5CDD505-2E9C-101B-9397-08002B2CF9AE}" pid="7" name="MSIP_Label_de7bc0b7-cfd5-41c5-b396-11260b07bd0e_ActionId">
    <vt:lpwstr>753c4345-9cd2-4468-a4a7-e38c60f1d711</vt:lpwstr>
  </property>
  <property fmtid="{D5CDD505-2E9C-101B-9397-08002B2CF9AE}" pid="8" name="MSIP_Label_de7bc0b7-cfd5-41c5-b396-11260b07bd0e_ContentBits">
    <vt:lpwstr>0</vt:lpwstr>
  </property>
  <property fmtid="{D5CDD505-2E9C-101B-9397-08002B2CF9AE}" pid="9" name="MSIP_Label_de7bc0b7-cfd5-41c5-b396-11260b07bd0e_Tag">
    <vt:lpwstr>10, 0, 1, 1</vt:lpwstr>
  </property>
</Properties>
</file>